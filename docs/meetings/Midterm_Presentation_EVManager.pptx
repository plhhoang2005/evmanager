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4AF37"/>
                </a:solidFill>
              </a:defRPr>
            </a:pPr>
            <a:r>
              <a:t>DỰ ÁN HỆ THỐNG QUẢN LÝ TRUNG TÂM HỘI NGHỊ TIỆC CƯỚI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EVManager System - Midterm Progress &amp; 50% Demo</a:t>
            </a:r>
          </a:p>
          <a:p>
            <a:pPr>
              <a:spcAft>
                <a:spcPts val="2800"/>
              </a:spcAft>
              <a:defRPr sz="1600">
                <a:solidFill>
                  <a:srgbClr val="C8D7E6"/>
                </a:solidFill>
              </a:defRPr>
            </a:pPr>
            <a:r>
              <a:t>Báo cáo tiến độ Tuần 1-3 | Phân tích WBS &amp; EVM Day 20 | Demo 50% Tính Năng Cốt Lõi</a:t>
            </a:r>
          </a:p>
          <a:p>
            <a:pPr>
              <a:defRPr sz="1300">
                <a:solidFill>
                  <a:srgbClr val="B4C8DC"/>
                </a:solidFill>
              </a:defRPr>
            </a:pPr>
            <a:r>
              <a:t>Nhóm Thực Hiện: Phạm Lê Huy Hoàng (PM), Huỳnh Tấn Thọ, Võ Hoàng Nhân, Bùi Nguyễn Chí Hậu, Dương Khắc Đạt</a:t>
            </a:r>
            <a:br/>
            <a:r>
              <a:t>Thời gian báo cáo: Ngày 20 (Cuối tuần 3 - 27/09/2026)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Mục Tiêu Dự Án &amp; Bài Toán Nghiệp Vụ Thực Tế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DF5F5"/>
          </a:solidFill>
          <a:ln>
            <a:solidFill>
              <a:srgbClr val="F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BE2828"/>
                </a:solidFill>
              </a:defRPr>
            </a:pPr>
            <a:r>
              <a:t>THÁCH THỨC NGHIỆP VỤ THỰC TẾ</a:t>
            </a:r>
          </a:p>
          <a:p>
            <a:pPr>
              <a:spcBef>
                <a:spcPts val="800"/>
              </a:spcBef>
              <a:defRPr sz="1200">
                <a:solidFill>
                  <a:srgbClr val="28323C"/>
                </a:solidFill>
              </a:defRPr>
            </a:pPr>
            <a:r>
              <a:t>• Trùng lịch đặt sảnh: Do quản lý bằng sổ tay hoặc nhiều file Excel rời rạc giữa các bộ phận.</a:t>
            </a:r>
          </a:p>
          <a:p>
            <a:pPr>
              <a:spcBef>
                <a:spcPts val="800"/>
              </a:spcBef>
              <a:defRPr sz="1200">
                <a:solidFill>
                  <a:srgbClr val="28323C"/>
                </a:solidFill>
              </a:defRPr>
            </a:pPr>
            <a:r>
              <a:t>• Thất thoát phụ thu dịch vụ: Khó kiểm soát phát sinh giờ phát tiệc, rượu ngoại, âm thanh ánh sáng ngoài gói.</a:t>
            </a:r>
          </a:p>
          <a:p>
            <a:pPr>
              <a:spcBef>
                <a:spcPts val="800"/>
              </a:spcBef>
              <a:defRPr sz="1200">
                <a:solidFill>
                  <a:srgbClr val="28323C"/>
                </a:solidFill>
              </a:defRPr>
            </a:pPr>
            <a:r>
              <a:t>• Báo giá thủ công chậm trễ: Nhân viên mất 20-30 phút tính toán giá theo từng ca (sáng/tối), ngày thường/cuối tuần.</a:t>
            </a:r>
          </a:p>
          <a:p>
            <a:pPr>
              <a:spcBef>
                <a:spcPts val="800"/>
              </a:spcBef>
              <a:defRPr sz="1200">
                <a:solidFill>
                  <a:srgbClr val="28323C"/>
                </a:solidFill>
              </a:defRPr>
            </a:pPr>
            <a:r>
              <a:t>• Thiếu báo cáo dòng tiền: Quản lý khó nắm bắt các đợt thanh toán cọc và công nợ thực tế của từng hợp đồng.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AF5"/>
          </a:solidFill>
          <a:ln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E823C"/>
                </a:solidFill>
              </a:defRPr>
            </a:pPr>
            <a:r>
              <a:t>GIẢI PHÁP HỆ THỐNG EVMANAGER</a:t>
            </a:r>
          </a:p>
          <a:p>
            <a:pPr>
              <a:spcBef>
                <a:spcPts val="800"/>
              </a:spcBef>
              <a:defRPr sz="1200">
                <a:solidFill>
                  <a:srgbClr val="28323C"/>
                </a:solidFill>
              </a:defRPr>
            </a:pPr>
            <a:r>
              <a:t>✔ Khóa trùng lịch tự động: Kiểm tra tính sẵn sàng của sảnh theo ngày, ca sáng/tối với độ chính xác 100%.</a:t>
            </a:r>
          </a:p>
          <a:p>
            <a:pPr>
              <a:spcBef>
                <a:spcPts val="800"/>
              </a:spcBef>
              <a:defRPr sz="1200">
                <a:solidFill>
                  <a:srgbClr val="28323C"/>
                </a:solidFill>
              </a:defRPr>
            </a:pPr>
            <a:r>
              <a:t>✔ Bộ công cụ tính giá tự động (Pricing Calculator): Dự toán trọn gói sảnh, thực đơn và dịch vụ trong 10 giây.</a:t>
            </a:r>
          </a:p>
          <a:p>
            <a:pPr>
              <a:spcBef>
                <a:spcPts val="800"/>
              </a:spcBef>
              <a:defRPr sz="1200">
                <a:solidFill>
                  <a:srgbClr val="28323C"/>
                </a:solidFill>
              </a:defRPr>
            </a:pPr>
            <a:r>
              <a:t>✔ Chuẩn hóa quy trình 3NF (13 bảng): Quản lý chi tiết hợp đồng, phân rã thanh toán cọc 3 đợt rõ ràng.</a:t>
            </a:r>
          </a:p>
          <a:p>
            <a:pPr>
              <a:spcBef>
                <a:spcPts val="800"/>
              </a:spcBef>
              <a:defRPr sz="1200">
                <a:solidFill>
                  <a:srgbClr val="28323C"/>
                </a:solidFill>
              </a:defRPr>
            </a:pPr>
            <a:r>
              <a:t>✔ Dashboard chỉ số tài chính thời gian thực: Cập nhật tỷ lệ lấp đầy sảnh và doanh thu dự kiến tức thì.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Cơ Cấu Phân Rã Công Việc &amp; Ngân Sách Cơ Sở (BAC = 130 Triệu)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2011680"/>
                <a:gridCol w="1645920"/>
                <a:gridCol w="18288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Mã WBS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Tên Gói Công Việc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Ngân Sách (VNĐ)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Tỷ Trọng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Trạng Thái Day 20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Khởi động dự án &amp; Thiết lập chuẩn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7,000,000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5.38%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823C"/>
                          </a:solidFill>
                        </a:defRPr>
                      </a:pPr>
                      <a:r>
                        <a:t>Hoàn thành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Phân tích yêu cầu nghiệp vụ tiệc cưới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13,000,000 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823C"/>
                          </a:solidFill>
                        </a:defRPr>
                      </a:pPr>
                      <a:r>
                        <a:t>Hoàn thành 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Thiết kế hệ thống &amp; CSDL 13 bảng 3NF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16,500,000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12.69%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823C"/>
                          </a:solidFill>
                        </a:defRPr>
                      </a:pPr>
                      <a:r>
                        <a:t>Hoàn thành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Phát triển Backend Spring Boot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30,000,000 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23.08%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823C"/>
                          </a:solidFill>
                        </a:defRPr>
                      </a:pPr>
                      <a:r>
                        <a:t>Hoàn thành 87% SP1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Phát triển Frontend React + Vite SPA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28,500,000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21.92%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823C"/>
                          </a:solidFill>
                        </a:defRPr>
                      </a:pPr>
                      <a:r>
                        <a:t>Hoàn thành 83% SP1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Kiểm thử hệ thống &amp; Đảm bảo chất lượng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18,000,000 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13.85%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Sprint 2 (Tuần 4-7)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Triển khai Staging &amp; Đóng dự 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17,000,000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13.08%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Sprint 2 (Tuần 7-8)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Tiến Độ CPM, Nhận Diện Nút Thắt &amp; Kế Hoạch Fast-tracking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ĐƯỜNG GĂNG DỰ ÁN (CRITICAL PATH - TỔNG THỜI GIAN 56 NGÀY / 8 TUẦN)</a:t>
            </a:r>
          </a:p>
          <a:p>
            <a:pPr>
              <a:spcBef>
                <a:spcPts val="800"/>
              </a:spcBef>
              <a:defRPr sz="1200" b="1">
                <a:solidFill>
                  <a:srgbClr val="0E74B4"/>
                </a:solidFill>
              </a:defRPr>
            </a:pPr>
            <a:r>
              <a:t>1.1 Khởi động (W1) ➔ 1.2 Phân tích (W1-W2) ➔ 1.3 Thiết kế 3NF (W2) ➔ 1.4-1.5 Phát triển (W3-W5) ➔ 1.6 Kiểm thử (W6-W7) ➔ 1.7 Triển khai (W8)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5212080" cy="3383280"/>
          </a:xfrm>
          <a:prstGeom prst="roundRect">
            <a:avLst/>
          </a:prstGeom>
          <a:solidFill>
            <a:srgbClr val="FFFAF5"/>
          </a:solidFill>
          <a:ln>
            <a:solidFill>
              <a:srgbClr val="F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BE5014"/>
                </a:solidFill>
              </a:defRPr>
            </a:pPr>
            <a:r>
              <a:t>PHÁT HIỆN NÚT THẮT TẠI TUẦN 2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• 9 công việc có nguy cơ trễ 24 person-hours vào cuối tuần 2.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• Nguyên nhân kỹ thuật: Đội ngũ quyết định nâng cấp CSDL từ 8 bảng lên 13 bảng chuẩn 3NF để bao quát nghiệp vụ thanh toán nhiều đợt và phân ca sáng/tối.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• Đường cong tiếp cận Spring Boot 3 và Flyway migration mất thêm thời gian nghiên cứu của nhóm Backend.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926080"/>
            <a:ext cx="5212080" cy="3383280"/>
          </a:xfrm>
          <a:prstGeom prst="roundRect">
            <a:avLst/>
          </a:prstGeom>
          <a:solidFill>
            <a:srgbClr val="F5FCF5"/>
          </a:solidFill>
          <a:ln>
            <a:solidFill>
              <a:srgbClr val="BE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E823C"/>
                </a:solidFill>
              </a:defRPr>
            </a:pPr>
            <a:r>
              <a:t>GIẢI PHÁP FAST-TRACKING TUẦN 3 ĐÃ THỰC HIỆN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✔ Song song hóa Frontend &amp; Backend: Chốt API Contract sớm; Frontend phát triển trên Vite Mock Server không bị block.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✔ Huy động 48 giờ làm thêm (Overtime) của 5 thành viên trong Tuần 3 để hoàn thiện Schema DDL và bộ Mock API.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✔ Kết quả đo lường: Kéo chỉ số SPI từ 0.88 lên 0.944, sẵn sàng hoàn toàn cho buổi demo giữa kỳ 50% hôm nay.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Đo Lường Quản Trị Giá Trị Thu Được (EVM) Tại Day 20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8828C"/>
                </a:solidFill>
              </a:defRPr>
            </a:pPr>
            <a:r>
              <a:t>KẾ HOẠCH (PV)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1B365D"/>
                </a:solidFill>
              </a:defRPr>
            </a:pPr>
            <a:r>
              <a:t>58,500,000 đ</a:t>
            </a:r>
          </a:p>
          <a:p>
            <a:pPr algn="ctr">
              <a:spcBef>
                <a:spcPts val="400"/>
              </a:spcBef>
              <a:defRPr sz="1100">
                <a:solidFill>
                  <a:srgbClr val="28323C"/>
                </a:solidFill>
              </a:defRPr>
            </a:pPr>
            <a:r>
              <a:t>45.0% BAC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8828C"/>
                </a:solidFill>
              </a:defRPr>
            </a:pPr>
            <a:r>
              <a:t>THU ĐƯỢC (EV)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0E74B4"/>
                </a:solidFill>
              </a:defRPr>
            </a:pPr>
            <a:r>
              <a:t>55,250,000 đ</a:t>
            </a:r>
          </a:p>
          <a:p>
            <a:pPr algn="ctr">
              <a:spcBef>
                <a:spcPts val="400"/>
              </a:spcBef>
              <a:defRPr sz="1100">
                <a:solidFill>
                  <a:srgbClr val="28323C"/>
                </a:solidFill>
              </a:defRPr>
            </a:pPr>
            <a:r>
              <a:t>42.5% 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8828C"/>
                </a:solidFill>
              </a:defRPr>
            </a:pPr>
            <a:r>
              <a:t>THỰC CHI (AC)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B45014"/>
                </a:solidFill>
              </a:defRPr>
            </a:pPr>
            <a:r>
              <a:t>63,300,000 đ</a:t>
            </a:r>
          </a:p>
          <a:p>
            <a:pPr algn="ctr">
              <a:spcBef>
                <a:spcPts val="400"/>
              </a:spcBef>
              <a:defRPr sz="1100">
                <a:solidFill>
                  <a:srgbClr val="28323C"/>
                </a:solidFill>
              </a:defRPr>
            </a:pPr>
            <a:r>
              <a:t>48.7% BAC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8828C"/>
                </a:solidFill>
              </a:defRPr>
            </a:pPr>
            <a:r>
              <a:t>HIỆU SUẤT TIẾN ĐỘ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1E823C"/>
                </a:solidFill>
              </a:defRPr>
            </a:pPr>
            <a:r>
              <a:t>SPI = 0.944</a:t>
            </a:r>
          </a:p>
          <a:p>
            <a:pPr algn="ctr">
              <a:spcBef>
                <a:spcPts val="400"/>
              </a:spcBef>
              <a:defRPr sz="1100">
                <a:solidFill>
                  <a:srgbClr val="28323C"/>
                </a:solidFill>
              </a:defRPr>
            </a:pPr>
            <a:r>
              <a:t>SV = -3.25M VNĐ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2918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50292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Chỉ Số Đo Lường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Giá Trị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Ngưỡng Đánh Giá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Phân Tích Chi Tiết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Phương sai tiến độ (SV)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-3,250,000 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SV &gt;= -5.0M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Chậm nhẹ ~1.5 ngày làm việc do mở rộng CSDL lên 13 bảng.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Phương sai chi phí (CV)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-8,050,000 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CV &gt;= -10.0M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Vượt chi phí do OT và chi phí nghiên cứu công nghệ mới ban đầu.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Chỉ số tiến độ (SPI)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0.944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SPI &gt;= 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Tiến độ đạt 94.4% kế hoạch cơ sở (vùng kiểm soát tốt).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Chỉ số chi phí (CPI)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0.873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23C"/>
                          </a:solidFill>
                        </a:defRPr>
                      </a:pPr>
                      <a:r>
                        <a:t>CPI &gt;= 0.85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</a:defRPr>
                      </a:pPr>
                      <a:r>
                        <a:t>Cứ 1 đồng chi tiêu mang lại 0.873 đồng giá trị khối lượng.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Dự Báo Ngân Sách Khi Hoàn Thành (EAC) &amp; Chỉ Số TCPI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B365D"/>
                </a:solidFill>
              </a:defRPr>
            </a:pPr>
            <a:r>
              <a:t>CÁC KỊCH BẢN DỰ BÁO NGÂN SÁCH HOÀN THÀNH (EAC)</a:t>
            </a:r>
          </a:p>
          <a:p>
            <a:pPr>
              <a:spcBef>
                <a:spcPts val="600"/>
              </a:spcBef>
              <a:defRPr sz="1100" b="1">
                <a:solidFill>
                  <a:srgbClr val="0E74B4"/>
                </a:solidFill>
              </a:defRPr>
            </a:pPr>
            <a:r>
              <a:t>▶ Kịch bản 1: Giữ nguyên xu hướng hiện tại (Typical)</a:t>
            </a:r>
          </a:p>
          <a:p>
            <a:pPr>
              <a:spcAft>
                <a:spcPts val="400"/>
              </a:spcAft>
              <a:defRPr sz="1000">
                <a:solidFill>
                  <a:srgbClr val="28323C"/>
                </a:solidFill>
              </a:defRPr>
            </a:pPr>
            <a:r>
              <a:t>EAC = BAC / CPI = 148,911,000 đ (VAC = -18.91M đ)</a:t>
            </a:r>
            <a:br/>
            <a:r>
              <a:t>Xảy ra nếu nhóm tiếp tục gặp khó khăn kỹ thuật ở Sprint 2.</a:t>
            </a:r>
          </a:p>
          <a:p>
            <a:pPr>
              <a:spcBef>
                <a:spcPts val="600"/>
              </a:spcBef>
              <a:defRPr sz="1100" b="1">
                <a:solidFill>
                  <a:srgbClr val="0E74B4"/>
                </a:solidFill>
              </a:defRPr>
            </a:pPr>
            <a:r>
              <a:t>▶ Kịch bản 2: Phần còn lại chạy theo định mức (Atypical)</a:t>
            </a:r>
          </a:p>
          <a:p>
            <a:pPr>
              <a:spcAft>
                <a:spcPts val="400"/>
              </a:spcAft>
              <a:defRPr sz="1000">
                <a:solidFill>
                  <a:srgbClr val="28323C"/>
                </a:solidFill>
              </a:defRPr>
            </a:pPr>
            <a:r>
              <a:t>EAC = AC + (BAC - EV) = 138,050,000 đ (VAC = -8.05M đ)</a:t>
            </a:r>
            <a:br/>
            <a:r>
              <a:t>Xảy ra khi các công việc Sprint 2 thực hiện đúng dự toán ban đầu.</a:t>
            </a:r>
          </a:p>
          <a:p>
            <a:pPr>
              <a:spcBef>
                <a:spcPts val="600"/>
              </a:spcBef>
              <a:defRPr sz="1100" b="1">
                <a:solidFill>
                  <a:srgbClr val="0E74B4"/>
                </a:solidFill>
              </a:defRPr>
            </a:pPr>
            <a:r>
              <a:t>▶ Kịch bản 3: Tác động kép tiến độ &amp; chi phí (Composite)</a:t>
            </a:r>
          </a:p>
          <a:p>
            <a:pPr>
              <a:spcAft>
                <a:spcPts val="400"/>
              </a:spcAft>
              <a:defRPr sz="1000">
                <a:solidFill>
                  <a:srgbClr val="28323C"/>
                </a:solidFill>
              </a:defRPr>
            </a:pPr>
            <a:r>
              <a:t>EAC = AC + [(BAC - EV) / (CPI x SPI)] = 154,058,000 đ (VAC = -24.06M đ)</a:t>
            </a:r>
            <a:br/>
            <a:r>
              <a:t>Kịch bản xấu nhất nếu trễ cả tiến độ và đội thêm chi phí.</a:t>
            </a:r>
          </a:p>
          <a:p>
            <a:pPr>
              <a:spcBef>
                <a:spcPts val="600"/>
              </a:spcBef>
              <a:defRPr sz="1100" b="1">
                <a:solidFill>
                  <a:srgbClr val="0E74B4"/>
                </a:solidFill>
              </a:defRPr>
            </a:pPr>
            <a:r>
              <a:t>▶ Kịch bản 4: Có can thiệp quản trị phục hồi (Target)</a:t>
            </a:r>
          </a:p>
          <a:p>
            <a:pPr>
              <a:spcAft>
                <a:spcPts val="400"/>
              </a:spcAft>
              <a:defRPr sz="1000">
                <a:solidFill>
                  <a:srgbClr val="28323C"/>
                </a:solidFill>
              </a:defRPr>
            </a:pPr>
            <a:r>
              <a:t>EAC = 132,500,000 đ (VAC = -2.50M đ - NẰM TRONG BUFFER)</a:t>
            </a:r>
            <a:br/>
            <a:r>
              <a:t>Nhờ tái sử dụng 13 bảng CSDL &amp; UI có sẵn, CPI Sprint 2 phục hồi &gt;= 1.08.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F5F8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B365D"/>
                </a:solidFill>
              </a:defRPr>
            </a:pPr>
            <a:r>
              <a:t>CHỈ SỐ HIỆU SUẤT CẦN ĐẠT (TCPI)</a:t>
            </a:r>
          </a:p>
          <a:p>
            <a:pPr>
              <a:defRPr sz="1100" b="1">
                <a:solidFill>
                  <a:srgbClr val="28323C"/>
                </a:solidFill>
              </a:defRPr>
            </a:pPr>
            <a:r>
              <a:t>TCPI (Theo BAC gốc 130M):</a:t>
            </a:r>
          </a:p>
          <a:p>
            <a:pPr>
              <a:spcAft>
                <a:spcPts val="400"/>
              </a:spcAft>
              <a:defRPr sz="2800" b="1">
                <a:solidFill>
                  <a:srgbClr val="BE2828"/>
                </a:solidFill>
              </a:defRPr>
            </a:pPr>
            <a:r>
              <a:t>1.121</a:t>
            </a:r>
          </a:p>
          <a:p>
            <a:pPr>
              <a:spcAft>
                <a:spcPts val="1400"/>
              </a:spcAft>
              <a:defRPr sz="1000">
                <a:solidFill>
                  <a:srgbClr val="28323C"/>
                </a:solidFill>
              </a:defRPr>
            </a:pPr>
            <a:r>
              <a:t>Phần công việc còn lại phải đạt hiệu suất chi phí 112.1% để không vượt tổng ngân sách 130 triệu đồng.</a:t>
            </a:r>
          </a:p>
          <a:p>
            <a:pPr>
              <a:defRPr sz="1100" b="1">
                <a:solidFill>
                  <a:srgbClr val="28323C"/>
                </a:solidFill>
              </a:defRPr>
            </a:pPr>
            <a:r>
              <a:t>TCPI (Có tính quỹ dự phòng 10% = 143M):</a:t>
            </a:r>
          </a:p>
          <a:p>
            <a:pPr>
              <a:spcAft>
                <a:spcPts val="400"/>
              </a:spcAft>
              <a:defRPr sz="2800" b="1">
                <a:solidFill>
                  <a:srgbClr val="1E823C"/>
                </a:solidFill>
              </a:defRPr>
            </a:pPr>
            <a:r>
              <a:t>0.938</a:t>
            </a:r>
          </a:p>
          <a:p>
            <a:pPr>
              <a:defRPr sz="1000">
                <a:solidFill>
                  <a:srgbClr val="28323C"/>
                </a:solidFill>
              </a:defRPr>
            </a:pPr>
            <a:r>
              <a:t>Khi sử dụng Quỹ dự phòng khẩn cấp đã duyệt trong COCOMO, áp lực giảm xuống còn 0.938 (rất khả thi).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Kiến Trúc Kỹ Thuật Hiện Đại &amp; CSDL 13 Bảng Chuẩn 3NF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FRONTEND SPA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React 18 + Vite: Khởi động tức thì, HMR siêu tốc.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Tailwind CSS v3: Thiết kế UI đồng nhất, responsive.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Lucide Icons: Bộ icon giao diện hiện đại.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Axios Client: Quản lý interceptor token tự động.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Dark / Light Mode: Trải nghiệm người dùng cao cấp.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69593992320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74B4"/>
                </a:solidFill>
              </a:defRPr>
            </a:pPr>
            <a:r>
              <a:t>BACKEND CORE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Java 21 LTS + Spring Boot 3.x: Chuẩn công nghiệp.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Spring Security 6: Stateless JWT Filter chain.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Jakarta Bean Validation: Validate dữ liệu đầu vào.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Global Exception Handler: API error chuẩn RFC 7807.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Swagger / OpenAPI 3: Tài liệu API trực quan.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39187253120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823C"/>
                </a:solidFill>
              </a:defRPr>
            </a:pPr>
            <a:r>
              <a:t>CSDL 13 BẢNG 3NF (POSTGRESQL)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Flyway Migration (V1 - V8): Tự động hóa DDL/Seed.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Phân hệ Người dùng: users, roles, permissions.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Phân hệ Sảnh tiệc: venues, halls, hall_pricing (ca sáng/tối).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Phân hệ Sự kiện: events, event_services, customers.</a:t>
            </a:r>
          </a:p>
          <a:p>
            <a:pPr>
              <a:spcBef>
                <a:spcPts val="800"/>
              </a:spcBef>
              <a:defRPr sz="1000">
                <a:solidFill>
                  <a:srgbClr val="28323C"/>
                </a:solidFill>
              </a:defRPr>
            </a:pPr>
            <a:r>
              <a:t>• Phân hệ Tài chính: menus, menu_items, services, payments.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Trình Diễn Sản Phẩm Trực Tiếp (Nghiệm Thu Mốc 50%)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74B4"/>
                </a:solidFill>
              </a:defRPr>
            </a:pPr>
            <a:r>
              <a:t>1. ĐĂNG NHẬP &amp; BẢO MẬT</a:t>
            </a:r>
          </a:p>
          <a:p>
            <a:pPr>
              <a:spcBef>
                <a:spcPts val="800"/>
              </a:spcBef>
              <a:defRPr sz="1100">
                <a:solidFill>
                  <a:srgbClr val="28323C"/>
                </a:solidFill>
              </a:defRPr>
            </a:pPr>
            <a:r>
              <a:t>Tài khoản: admin@evmanager.vn</a:t>
            </a:r>
            <a:br/>
            <a:r>
              <a:t>Xác thực JWT Token, lưu trữ phiên an toàn, phân quyền Admin &amp; Staff linh hoạt.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2. DASHBOARD ĐIỀU HÀNH</a:t>
            </a:r>
          </a:p>
          <a:p>
            <a:pPr>
              <a:spcBef>
                <a:spcPts val="800"/>
              </a:spcBef>
              <a:defRPr sz="1100">
                <a:solidFill>
                  <a:srgbClr val="28323C"/>
                </a:solidFill>
              </a:defRPr>
            </a:pPr>
            <a:r>
              <a:t>Hiển thị 4 thẻ KPI doanh thu &amp; sảnh.</a:t>
            </a:r>
            <a:br/>
            <a:r>
              <a:t>Biểu đồ doanh thu trực quan, danh sách sự kiện gần nhất với trạng thái đã cọc/hoàn tất.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823C"/>
                </a:solidFill>
              </a:defRPr>
            </a:pPr>
            <a:r>
              <a:t>3. QUẢN LÝ SẢNH &amp; KHÁCH</a:t>
            </a:r>
          </a:p>
          <a:p>
            <a:pPr>
              <a:spcBef>
                <a:spcPts val="800"/>
              </a:spcBef>
              <a:defRPr sz="1100">
                <a:solidFill>
                  <a:srgbClr val="28323C"/>
                </a:solidFill>
              </a:defRPr>
            </a:pPr>
            <a:r>
              <a:t>Tra cứu danh mục 4 sảnh tiệc lớn.</a:t>
            </a:r>
            <a:br/>
            <a:r>
              <a:t>Lọc theo số lượng bàn, diện tích.</a:t>
            </a:r>
            <a:br/>
            <a:r>
              <a:t>Quản lý hồ sơ khách hàng và lịch sử tiệc cưới.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8214"/>
                </a:solidFill>
              </a:defRPr>
            </a:pPr>
            <a:r>
              <a:t>4. BỘ TÍNH GIÁ TIỆC TỰ ĐỘNG</a:t>
            </a:r>
          </a:p>
          <a:p>
            <a:pPr>
              <a:spcBef>
                <a:spcPts val="800"/>
              </a:spcBef>
              <a:defRPr sz="1100">
                <a:solidFill>
                  <a:srgbClr val="28323C"/>
                </a:solidFill>
              </a:defRPr>
            </a:pPr>
            <a:r>
              <a:t>Pricing Calculator tức thì trong 10s.</a:t>
            </a:r>
            <a:br/>
            <a:r>
              <a:t>Tính giá sảnh theo ca sáng/tối, đơn giá thực đơn, phụ thu dịch vụ và tỷ lệ cọc 30%.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Bài Học Kinh Nghiệm &amp; Kiểm Soát Rủi Ro Giai Đoạn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E74B4"/>
                </a:solidFill>
              </a:defRPr>
            </a:pPr>
            <a:r>
              <a:t>BÀI HỌC KINH NGHIỆM ĐÃ RÚT RA</a:t>
            </a:r>
          </a:p>
          <a:p>
            <a:pPr>
              <a:spcBef>
                <a:spcPts val="1000"/>
              </a:spcBef>
              <a:defRPr sz="1100">
                <a:solidFill>
                  <a:srgbClr val="28323C"/>
                </a:solidFill>
              </a:defRPr>
            </a:pPr>
            <a:r>
              <a:t>• Chuẩn hóa dữ liệu sớm mang lại giá trị bền vững: Dành thêm thời gian làm CSDL 13 bảng 3NF giúp Backend và Frontend phát triển rất nhanh ở các sprint sau.</a:t>
            </a:r>
          </a:p>
          <a:p>
            <a:pPr>
              <a:spcBef>
                <a:spcPts val="1000"/>
              </a:spcBef>
              <a:defRPr sz="1100">
                <a:solidFill>
                  <a:srgbClr val="28323C"/>
                </a:solidFill>
              </a:defRPr>
            </a:pPr>
            <a:r>
              <a:t>• Thiết lập API Contract trước khi code: Tách biệt Mock server giúp nhóm Frontend không bị block khi Backend đang hoàn thiện cấu hình security.</a:t>
            </a:r>
          </a:p>
          <a:p>
            <a:pPr>
              <a:spcBef>
                <a:spcPts val="1000"/>
              </a:spcBef>
              <a:defRPr sz="1100">
                <a:solidFill>
                  <a:srgbClr val="28323C"/>
                </a:solidFill>
              </a:defRPr>
            </a:pPr>
            <a:r>
              <a:t>• Kỷ luật kiểm thử tự động: Chạy unit test trước khi merge PR giúp nhánh develop luôn hoạt động ổn định và sẵn sàng demo bất kỳ lúc nào.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B365D"/>
                </a:solidFill>
              </a:defRPr>
            </a:pPr>
            <a:r>
              <a:t>KIỂM SOÁT RỦI RO CHO GIAI ĐOẠN 2 (TUẦN 4 - 8)</a:t>
            </a:r>
          </a:p>
          <a:p>
            <a:pPr>
              <a:spcBef>
                <a:spcPts val="800"/>
              </a:spcBef>
              <a:defRPr sz="1100">
                <a:solidFill>
                  <a:srgbClr val="28323C"/>
                </a:solidFill>
              </a:defRPr>
            </a:pPr>
            <a:r>
              <a:t>✔ Ngăn ngừa phình phạm vi (Scope Creep): Mọi góp ý mới sau buổi demo giữa kỳ bắt buộc phải qua quy trình Change Request (CR-01 ở PM-21).</a:t>
            </a:r>
          </a:p>
          <a:p>
            <a:pPr>
              <a:spcBef>
                <a:spcPts val="800"/>
              </a:spcBef>
              <a:defRPr sz="1100">
                <a:solidFill>
                  <a:srgbClr val="28323C"/>
                </a:solidFill>
              </a:defRPr>
            </a:pPr>
            <a:r>
              <a:t>✔ Kiểm soát chi phí nhân sự: Tận dụng tối đa component UI và template CRUD có sẵn để nâng cao CPI lên &gt;= 1.05.</a:t>
            </a:r>
          </a:p>
          <a:p>
            <a:pPr>
              <a:spcBef>
                <a:spcPts val="800"/>
              </a:spcBef>
              <a:defRPr sz="1100">
                <a:solidFill>
                  <a:srgbClr val="28323C"/>
                </a:solidFill>
              </a:defRPr>
            </a:pPr>
            <a:r>
              <a:t>✔ Rủi ro bảo mật &amp; toàn vẹn dữ liệu: Áp dụng cơ chế @Transactional cho mọi thao tác thanh toán tiền cọc tiệc cưới.</a:t>
            </a:r>
          </a:p>
          <a:p>
            <a:pPr>
              <a:spcBef>
                <a:spcPts val="800"/>
              </a:spcBef>
              <a:defRPr sz="1100">
                <a:solidFill>
                  <a:srgbClr val="28323C"/>
                </a:solidFill>
              </a:defRPr>
            </a:pPr>
            <a:r>
              <a:t>✔ Rủi ro môi trường triển khai: Đóng gói Docker Compose chuẩn hóa để môi trường Staging chạy y hệt môi trường máy phát triển.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B4"/>
                </a:solidFill>
              </a:defRPr>
            </a:pPr>
            <a:r>
              <a:t>BÁO CÁO TIẾN ĐỘ GIỮA KỲ (MỐC 50%)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</a:defRPr>
            </a:pPr>
            <a:r>
              <a:t>Kế Hoạch Nửa Sau Dự Án &amp; Phiên Hỏi Đáp (Q&amp;A)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29260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B365D"/>
                </a:solidFill>
              </a:defRPr>
            </a:pPr>
            <a:r>
              <a:t>LỘ TRÌNH TRIỂN KHAI SPRINT 2 (TUẦN 4 ĐẾN TUẦN 8)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▶ Tuần 4 - 5 (Sprint 2 Core): Hoàn thiện Module Hợp đồng tiệc cưới, Sơ đồ xếp bàn tiệc (Table Layout) và Thanh toán nhiều đợt.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▶ Tuần 6 (Integration &amp; Testing): Tích hợp toàn diện Backend &amp; Frontend, Kiểm thử tự động E2E, Kiểm thử tải (Load Testing).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▶ Tuần 7 (Staging &amp; Security Audit): Triển khai hệ thống lên môi trường Staging Docker, kiểm tra lỗ hổng bảo mật.</a:t>
            </a:r>
          </a:p>
          <a:p>
            <a:pPr>
              <a:spcBef>
                <a:spcPts val="600"/>
              </a:spcBef>
              <a:defRPr sz="1100">
                <a:solidFill>
                  <a:srgbClr val="28323C"/>
                </a:solidFill>
              </a:defRPr>
            </a:pPr>
            <a:r>
              <a:t>▶ Tuần 8 (Final Release &amp; Handover): Nghiệm thu toàn bộ 100% tính năng, bàn giao tài liệu kỹ thuật và đóng dự án.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480560"/>
            <a:ext cx="10698480" cy="1828800"/>
          </a:xfrm>
          <a:prstGeom prst="round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B48214"/>
                </a:solidFill>
              </a:defRPr>
            </a:pPr>
            <a:r>
              <a:t>XIN CHÂN THÀNH CẢM ƠN HỘI ĐỒNG ĐÁNH GIÁ!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Nhóm phát triển EVManager sẵn sàng tiếp nhận các câu hỏi và ý kiến đóng góp.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